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82" d="100"/>
          <a:sy n="82" d="100"/>
        </p:scale>
        <p:origin x="691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7118937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2237570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2696218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11273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676133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1294704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424512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712754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52620892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50023881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2812570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16062952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98166957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94904907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774559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99062241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3626395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22C3E79-63E1-40B5-9970-B4B38E9F7EB9}" type="datetimeFigureOut">
              <a:rPr lang="en-IN" smtClean="0"/>
              <a:t>10-03-2026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33CB7417-C512-4EE7-B603-C4D0AAE460DF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422005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2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3" name="Group 42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44" name="Rectangle 43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5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46" name="Rectangle 45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pSp>
        <p:nvGrpSpPr>
          <p:cNvPr id="47" name="Group 46">
            <a:extLst>
              <a:ext uri="{FF2B5EF4-FFF2-40B4-BE49-F238E27FC236}">
                <a16:creationId xmlns:a16="http://schemas.microsoft.com/office/drawing/2014/main" id="{F1ECA4FE-7D2F-4576-B767-3A5F5ABFE90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 useBgFill="1">
          <p:nvSpPr>
            <p:cNvPr id="48" name="Rectangle 47">
              <a:extLst>
                <a:ext uri="{FF2B5EF4-FFF2-40B4-BE49-F238E27FC236}">
                  <a16:creationId xmlns:a16="http://schemas.microsoft.com/office/drawing/2014/main" id="{5969441E-5462-4859-86CD-1737FDE36046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IN"/>
            </a:p>
          </p:txBody>
        </p:sp>
        <p:sp>
          <p:nvSpPr>
            <p:cNvPr id="49" name="Freeform 5">
              <a:extLst>
                <a:ext uri="{FF2B5EF4-FFF2-40B4-BE49-F238E27FC236}">
                  <a16:creationId xmlns:a16="http://schemas.microsoft.com/office/drawing/2014/main" id="{596BD4B5-6833-40CC-96FE-EDC675634264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rgbClr val="FFFFFF"/>
            </a:solidFill>
            <a:ln>
              <a:noFill/>
            </a:ln>
          </p:spPr>
          <p:txBody>
            <a:bodyPr/>
            <a:lstStyle/>
            <a:p>
              <a:endParaRPr lang="en-IN"/>
            </a:p>
          </p:txBody>
        </p:sp>
      </p:grpSp>
      <p:sp>
        <p:nvSpPr>
          <p:cNvPr id="2" name="TextBox 1">
            <a:extLst>
              <a:ext uri="{FF2B5EF4-FFF2-40B4-BE49-F238E27FC236}">
                <a16:creationId xmlns:a16="http://schemas.microsoft.com/office/drawing/2014/main" id="{3A00AD0E-B8D2-490F-8BE8-74AE27121C95}"/>
              </a:ext>
            </a:extLst>
          </p:cNvPr>
          <p:cNvSpPr txBox="1"/>
          <p:nvPr/>
        </p:nvSpPr>
        <p:spPr>
          <a:xfrm>
            <a:off x="1683171" y="1169773"/>
            <a:ext cx="8825658" cy="2870161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algn="ctr">
              <a:spcBef>
                <a:spcPct val="0"/>
              </a:spcBef>
              <a:spcAft>
                <a:spcPts val="600"/>
              </a:spcAft>
            </a:pPr>
            <a:r>
              <a:rPr lang="en-US" sz="5400" u="sng" dirty="0">
                <a:latin typeface="+mj-lt"/>
                <a:ea typeface="+mj-ea"/>
                <a:cs typeface="+mj-cs"/>
              </a:rPr>
              <a:t>E-Mart</a:t>
            </a:r>
          </a:p>
        </p:txBody>
      </p:sp>
      <p:cxnSp>
        <p:nvCxnSpPr>
          <p:cNvPr id="50" name="Straight Connector 49">
            <a:extLst>
              <a:ext uri="{FF2B5EF4-FFF2-40B4-BE49-F238E27FC236}">
                <a16:creationId xmlns:a16="http://schemas.microsoft.com/office/drawing/2014/main" id="{E81F53E2-F556-42FA-8D24-113839EE19F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5758249" y="4166888"/>
            <a:ext cx="675502" cy="0"/>
          </a:xfrm>
          <a:prstGeom prst="line">
            <a:avLst/>
          </a:prstGeom>
          <a:ln w="19050">
            <a:solidFill>
              <a:srgbClr val="FFFFFF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48692715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Rectangle 16">
            <a:extLst>
              <a:ext uri="{FF2B5EF4-FFF2-40B4-BE49-F238E27FC236}">
                <a16:creationId xmlns:a16="http://schemas.microsoft.com/office/drawing/2014/main" id="{4F78DAAE-B0C3-49A3-8AB1-AD2FF0E3686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003">
            <a:schemeClr val="dk2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 dirty="0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F6A8A81D-3338-4B0F-A26F-A3D259D2768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43466" y="801794"/>
            <a:ext cx="11000237" cy="5248266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40155665-7CE2-4939-AE5E-020DC1D207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IN"/>
          </a:p>
        </p:txBody>
      </p:sp>
      <p:graphicFrame>
        <p:nvGraphicFramePr>
          <p:cNvPr id="3" name="Table 2">
            <a:extLst>
              <a:ext uri="{FF2B5EF4-FFF2-40B4-BE49-F238E27FC236}">
                <a16:creationId xmlns:a16="http://schemas.microsoft.com/office/drawing/2014/main" id="{60FAA0EC-FB17-D52E-204F-2D1A90843FD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021431545"/>
              </p:ext>
            </p:extLst>
          </p:nvPr>
        </p:nvGraphicFramePr>
        <p:xfrm>
          <a:off x="2699074" y="1284394"/>
          <a:ext cx="6889021" cy="4283072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6889021">
                  <a:extLst>
                    <a:ext uri="{9D8B030D-6E8A-4147-A177-3AD203B41FA5}">
                      <a16:colId xmlns:a16="http://schemas.microsoft.com/office/drawing/2014/main" val="3587176226"/>
                    </a:ext>
                  </a:extLst>
                </a:gridCol>
              </a:tblGrid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Electronics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2092884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Footwear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2374557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Clothing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88895913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Home Appliances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614325287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Accessories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824281318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Kitchenware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45064344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Bags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1597557471"/>
                  </a:ext>
                </a:extLst>
              </a:tr>
              <a:tr h="535384">
                <a:tc>
                  <a:txBody>
                    <a:bodyPr/>
                    <a:lstStyle/>
                    <a:p>
                      <a:pPr algn="l" fontAlgn="ctr"/>
                      <a:r>
                        <a:rPr lang="en-IN" sz="3100" u="none" strike="noStrike">
                          <a:effectLst/>
                        </a:rPr>
                        <a:t>Personal Care</a:t>
                      </a:r>
                      <a:endParaRPr lang="en-IN" sz="31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21764" marR="21764" marT="21764" marB="0" anchor="ctr"/>
                </a:tc>
                <a:extLst>
                  <a:ext uri="{0D108BD9-81ED-4DB2-BD59-A6C34878D82A}">
                    <a16:rowId xmlns:a16="http://schemas.microsoft.com/office/drawing/2014/main" val="261795039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21574005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344C7B80-E2A1-F7C6-AE89-CBA342DCC72D}"/>
              </a:ext>
            </a:extLst>
          </p:cNvPr>
          <p:cNvSpPr txBox="1"/>
          <p:nvPr/>
        </p:nvSpPr>
        <p:spPr>
          <a:xfrm>
            <a:off x="727586" y="1229032"/>
            <a:ext cx="10609107" cy="378565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1) Top/Bottom 5 product by Sales/Profit/Quantity Sold.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2)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How do sales trends vary over time </a:t>
            </a: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(daily, monthly, quarterly, annually) 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?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3) Show relationship between sales &amp; profit.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4) Compare sales/profit/quantity sold between any two periods selected by the user.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5) Average discount offered in each discount category.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6) Total number of orders.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7) Show Sales/Profit/Discount/Net Sales/All remaining fields for each order that     could be filtered using visual filters. (Product/Date/Customer ID/Promotion Categories)</a:t>
            </a:r>
            <a:b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8) Show sales by different cities.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052231218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45</TotalTime>
  <Words>141</Words>
  <Application>Microsoft Office PowerPoint</Application>
  <PresentationFormat>Widescreen</PresentationFormat>
  <Paragraphs>10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9" baseType="lpstr">
      <vt:lpstr>Arial</vt:lpstr>
      <vt:lpstr>Calibri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 Git</dc:creator>
  <cp:lastModifiedBy>Kaustubh Ulape</cp:lastModifiedBy>
  <cp:revision>36</cp:revision>
  <dcterms:created xsi:type="dcterms:W3CDTF">2024-07-03T21:35:18Z</dcterms:created>
  <dcterms:modified xsi:type="dcterms:W3CDTF">2026-03-10T18:18:45Z</dcterms:modified>
</cp:coreProperties>
</file>